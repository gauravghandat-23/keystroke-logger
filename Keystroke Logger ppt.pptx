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7" d="100"/>
          <a:sy n="117" d="100"/>
        </p:scale>
        <p:origin x="234"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12/31/2025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12/31/2025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12/31/2025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12/31/2025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547762" y="3429000"/>
            <a:ext cx="3400089" cy="861497"/>
          </a:xfrm>
        </p:spPr>
        <p:txBody>
          <a:bodyPr/>
          <a:lstStyle/>
          <a:p>
            <a:pPr algn="r"/>
            <a:r>
              <a:rPr lang="en-US" b="0" dirty="0">
                <a:solidFill>
                  <a:schemeClr val="tx1"/>
                </a:solidFill>
              </a:rPr>
              <a:t>By Gaurav Uttam Ghandat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661658" y="1953299"/>
            <a:ext cx="7172298" cy="1117190"/>
          </a:xfrm>
        </p:spPr>
        <p:txBody>
          <a:bodyPr>
            <a:normAutofit/>
          </a:bodyPr>
          <a:lstStyle/>
          <a:p>
            <a:r>
              <a:rPr lang="en-GB" sz="3200" b="1" dirty="0"/>
              <a:t>Project Title -</a:t>
            </a:r>
            <a:r>
              <a:rPr lang="en-US" sz="3200" b="1" dirty="0"/>
              <a:t>Keystroke Logger Using Python and </a:t>
            </a:r>
            <a:r>
              <a:rPr lang="en-US" sz="3200" b="1" dirty="0" err="1"/>
              <a:t>Streamlit</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65715" y="1891884"/>
            <a:ext cx="6627949" cy="3765965"/>
          </a:xfrm>
        </p:spPr>
        <p:txBody>
          <a:bodyPr>
            <a:normAutofit fontScale="77500" lnSpcReduction="20000"/>
          </a:bodyPr>
          <a:lstStyle/>
          <a:p>
            <a:r>
              <a:rPr lang="en-US" sz="2800" dirty="0"/>
              <a:t>With the increasing number of cyber threats, organizations and individuals face risks from malicious software such as keyloggers that can capture sensitive information like passwords and personal data. Understanding how keyloggers work is essential for cybersecurity professionals to detect, prevent, and mitigate such threats.</a:t>
            </a:r>
          </a:p>
          <a:p>
            <a:r>
              <a:rPr lang="en-US" sz="2800" dirty="0"/>
              <a:t>The problem addressed in this project is the lack of practical understanding of </a:t>
            </a:r>
            <a:r>
              <a:rPr lang="en-US" sz="2800" b="1" dirty="0"/>
              <a:t>OS-level keystroke monitoring techniques</a:t>
            </a:r>
            <a:r>
              <a:rPr lang="en-US" sz="2800" dirty="0"/>
              <a:t> and how attackers exploit keyboard input mechanisms.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93898" y="232477"/>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73BAF542-5273-D954-C4B4-0BB349316F52}"/>
              </a:ext>
            </a:extLst>
          </p:cNvPr>
          <p:cNvSpPr>
            <a:spLocks noChangeArrowheads="1"/>
          </p:cNvSpPr>
          <p:nvPr/>
        </p:nvSpPr>
        <p:spPr bwMode="auto">
          <a:xfrm>
            <a:off x="249019" y="-4583005"/>
            <a:ext cx="11349083" cy="1114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This project implements an </a:t>
            </a:r>
            <a:r>
              <a:rPr kumimoji="0" lang="en-US" altLang="en-US" sz="2000" b="1" i="0" u="none" strike="noStrike" cap="none" normalizeH="0" baseline="0" dirty="0">
                <a:ln>
                  <a:noFill/>
                </a:ln>
                <a:solidFill>
                  <a:schemeClr val="tx1"/>
                </a:solidFill>
                <a:effectLst/>
                <a:latin typeface="Arial" panose="020B0604020202020204" pitchFamily="34" charset="0"/>
              </a:rPr>
              <a:t>educational keystroke logging application</a:t>
            </a:r>
            <a:r>
              <a:rPr kumimoji="0" lang="en-US" altLang="en-US" sz="2000" b="0" i="0" u="none" strike="noStrike" cap="none" normalizeH="0" baseline="0" dirty="0">
                <a:ln>
                  <a:noFill/>
                </a:ln>
                <a:solidFill>
                  <a:schemeClr val="tx1"/>
                </a:solidFill>
                <a:effectLst/>
                <a:latin typeface="Arial" panose="020B0604020202020204" pitchFamily="34" charset="0"/>
              </a:rPr>
              <a:t> using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Python and </a:t>
            </a:r>
            <a:r>
              <a:rPr kumimoji="0" lang="en-US" altLang="en-US" sz="2000" b="1" i="0" u="none" strike="noStrike" cap="none" normalizeH="0" baseline="0" dirty="0" err="1">
                <a:ln>
                  <a:noFill/>
                </a:ln>
                <a:solidFill>
                  <a:schemeClr val="tx1"/>
                </a:solidFill>
                <a:effectLst/>
                <a:latin typeface="Arial" panose="020B0604020202020204" pitchFamily="34" charset="0"/>
              </a:rPr>
              <a:t>Streamlit</a:t>
            </a:r>
            <a:r>
              <a:rPr kumimoji="0" lang="en-US" altLang="en-US" sz="2000" b="0" i="0" u="none" strike="noStrike" cap="none" normalizeH="0" baseline="0" dirty="0">
                <a:ln>
                  <a:noFill/>
                </a:ln>
                <a:solidFill>
                  <a:schemeClr val="tx1"/>
                </a:solidFill>
                <a:effectLst/>
                <a:latin typeface="Arial" panose="020B0604020202020204" pitchFamily="34" charset="0"/>
              </a:rPr>
              <a:t> to demonstrate how keystrokes can be captured at the operating system level.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application uses the </a:t>
            </a:r>
            <a:r>
              <a:rPr kumimoji="0" lang="en-US" altLang="en-US" sz="2000" b="0" i="0" u="none" strike="noStrike" cap="none" normalizeH="0" baseline="0" dirty="0" err="1">
                <a:ln>
                  <a:noFill/>
                </a:ln>
                <a:solidFill>
                  <a:schemeClr val="tx1"/>
                </a:solidFill>
                <a:effectLst/>
                <a:latin typeface="Arial Unicode MS"/>
              </a:rPr>
              <a:t>pynput</a:t>
            </a:r>
            <a:r>
              <a:rPr kumimoji="0" lang="en-US" altLang="en-US" sz="2000" b="0" i="0" u="none" strike="noStrike" cap="none" normalizeH="0" baseline="0" dirty="0">
                <a:ln>
                  <a:noFill/>
                </a:ln>
                <a:solidFill>
                  <a:schemeClr val="tx1"/>
                </a:solidFill>
                <a:effectLst/>
              </a:rPr>
              <a:t> library to listen to keyboard events and capture user keystrokes,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while </a:t>
            </a:r>
            <a:r>
              <a:rPr kumimoji="0" lang="en-US" altLang="en-US" sz="2000" b="0" i="0" u="none" strike="noStrike" cap="none" normalizeH="0" baseline="0" dirty="0" err="1">
                <a:ln>
                  <a:noFill/>
                </a:ln>
                <a:solidFill>
                  <a:schemeClr val="tx1"/>
                </a:solidFill>
                <a:effectLst/>
              </a:rPr>
              <a:t>Streamlit</a:t>
            </a:r>
            <a:r>
              <a:rPr kumimoji="0" lang="en-US" altLang="en-US" sz="2000" b="0" i="0" u="none" strike="noStrike" cap="none" normalizeH="0" baseline="0" dirty="0">
                <a:ln>
                  <a:noFill/>
                </a:ln>
                <a:solidFill>
                  <a:schemeClr val="tx1"/>
                </a:solidFill>
                <a:effectLst/>
              </a:rPr>
              <a:t> provides an interactive web-based user interface. The logger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starts and stops based on explicit user consent, ensuring ethical usage.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captured keystrokes are displayed in real time within the application interface. The project focuses 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Understanding keyboard hooks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Demonstrating credential harvesting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Raising awareness about keylogging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Supporting defensive cybersecurity research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system is designed strictly for </a:t>
            </a:r>
            <a:r>
              <a:rPr kumimoji="0" lang="en-US" altLang="en-US" sz="2000" b="1" i="0" u="none" strike="noStrike" cap="none" normalizeH="0" baseline="0" dirty="0">
                <a:ln>
                  <a:noFill/>
                </a:ln>
                <a:solidFill>
                  <a:schemeClr val="tx1"/>
                </a:solidFill>
                <a:effectLst/>
                <a:latin typeface="Arial" panose="020B0604020202020204" pitchFamily="34" charset="0"/>
              </a:rPr>
              <a:t>educational and ethical purposes</a:t>
            </a:r>
            <a:r>
              <a:rPr kumimoji="0" lang="en-US" altLang="en-US" sz="2000" b="0" i="0" u="none" strike="noStrike" cap="none" normalizeH="0" baseline="0" dirty="0">
                <a:ln>
                  <a:noFill/>
                </a:ln>
                <a:solidFill>
                  <a:schemeClr val="tx1"/>
                </a:solidFill>
                <a:effectLst/>
                <a:latin typeface="Arial" panose="020B0604020202020204" pitchFamily="34" charset="0"/>
              </a:rPr>
              <a:t> and does not transmit or store data remotely.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US" sz="3600" dirty="0"/>
              <a:t>Cyber Security Students</a:t>
            </a:r>
          </a:p>
          <a:p>
            <a:r>
              <a:rPr lang="en-US" sz="3600" dirty="0"/>
              <a:t>Ethical Hackers</a:t>
            </a:r>
          </a:p>
          <a:p>
            <a:r>
              <a:rPr lang="en-US" sz="3600" dirty="0"/>
              <a:t>Security Researchers</a:t>
            </a:r>
          </a:p>
          <a:p>
            <a:r>
              <a:rPr lang="en-US" sz="3600" dirty="0"/>
              <a:t>Educators and Trainers</a:t>
            </a:r>
          </a:p>
          <a:p>
            <a:r>
              <a:rPr lang="en-US" sz="3600" dirty="0"/>
              <a:t>Blue Team / Red Team Practitioners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graphicFrame>
        <p:nvGraphicFramePr>
          <p:cNvPr id="3" name="Table 2">
            <a:extLst>
              <a:ext uri="{FF2B5EF4-FFF2-40B4-BE49-F238E27FC236}">
                <a16:creationId xmlns:a16="http://schemas.microsoft.com/office/drawing/2014/main" id="{6FF9588B-1F6B-FEFA-F4B2-FACAD872FBD0}"/>
              </a:ext>
            </a:extLst>
          </p:cNvPr>
          <p:cNvGraphicFramePr>
            <a:graphicFrameLocks noGrp="1"/>
          </p:cNvGraphicFramePr>
          <p:nvPr>
            <p:extLst>
              <p:ext uri="{D42A27DB-BD31-4B8C-83A1-F6EECF244321}">
                <p14:modId xmlns:p14="http://schemas.microsoft.com/office/powerpoint/2010/main" val="1372043469"/>
              </p:ext>
            </p:extLst>
          </p:nvPr>
        </p:nvGraphicFramePr>
        <p:xfrm>
          <a:off x="467359" y="1501969"/>
          <a:ext cx="8596312" cy="2194560"/>
        </p:xfrm>
        <a:graphic>
          <a:graphicData uri="http://schemas.openxmlformats.org/drawingml/2006/table">
            <a:tbl>
              <a:tblPr/>
              <a:tblGrid>
                <a:gridCol w="4298156">
                  <a:extLst>
                    <a:ext uri="{9D8B030D-6E8A-4147-A177-3AD203B41FA5}">
                      <a16:colId xmlns:a16="http://schemas.microsoft.com/office/drawing/2014/main" val="418952577"/>
                    </a:ext>
                  </a:extLst>
                </a:gridCol>
                <a:gridCol w="4298156">
                  <a:extLst>
                    <a:ext uri="{9D8B030D-6E8A-4147-A177-3AD203B41FA5}">
                      <a16:colId xmlns:a16="http://schemas.microsoft.com/office/drawing/2014/main" val="266594759"/>
                    </a:ext>
                  </a:extLst>
                </a:gridCol>
              </a:tblGrid>
              <a:tr h="0">
                <a:tc>
                  <a:txBody>
                    <a:bodyPr/>
                    <a:lstStyle/>
                    <a:p>
                      <a:r>
                        <a:rPr lang="en-IN" b="1"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8388736"/>
                  </a:ext>
                </a:extLst>
              </a:tr>
              <a:tr h="0">
                <a:tc>
                  <a:txBody>
                    <a:bodyPr/>
                    <a:lstStyle/>
                    <a:p>
                      <a:r>
                        <a:rPr lang="en-IN" dirty="0"/>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Core programming 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702591"/>
                  </a:ext>
                </a:extLst>
              </a:tr>
              <a:tr h="0">
                <a:tc>
                  <a:txBody>
                    <a:bodyPr/>
                    <a:lstStyle/>
                    <a:p>
                      <a:r>
                        <a:rPr lang="en-IN" dirty="0" err="1"/>
                        <a:t>Streamlit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Web-based user interface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4619069"/>
                  </a:ext>
                </a:extLst>
              </a:tr>
              <a:tr h="0">
                <a:tc>
                  <a:txBody>
                    <a:bodyPr/>
                    <a:lstStyle/>
                    <a:p>
                      <a:r>
                        <a:rPr lang="en-IN"/>
                        <a:t>pynput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OS-level keyboard event listener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8451125"/>
                  </a:ext>
                </a:extLst>
              </a:tr>
              <a:tr h="0">
                <a:tc>
                  <a:txBody>
                    <a:bodyPr/>
                    <a:lstStyle/>
                    <a:p>
                      <a:r>
                        <a:rPr lang="en-IN"/>
                        <a:t>Visual Studio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Development environment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7673904"/>
                  </a:ext>
                </a:extLst>
              </a:tr>
              <a:tr h="0">
                <a:tc>
                  <a:txBody>
                    <a:bodyPr/>
                    <a:lstStyle/>
                    <a:p>
                      <a:r>
                        <a:rPr lang="en-IN"/>
                        <a:t>Windows 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Testing 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8218"/>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4043" y="1480679"/>
            <a:ext cx="8263357" cy="4373114"/>
          </a:xfrm>
        </p:spPr>
        <p:txBody>
          <a:bodyPr>
            <a:normAutofit fontScale="32500" lnSpcReduction="20000"/>
          </a:bodyPr>
          <a:lstStyle/>
          <a:p>
            <a:pPr>
              <a:buFont typeface="Arial" panose="020B0604020202020204" pitchFamily="34" charset="0"/>
              <a:buChar char="•"/>
            </a:pPr>
            <a:r>
              <a:rPr lang="en-US" sz="8000" dirty="0"/>
              <a:t>Successfully captured OS-level keystrokes</a:t>
            </a:r>
          </a:p>
          <a:p>
            <a:pPr>
              <a:buFont typeface="Arial" panose="020B0604020202020204" pitchFamily="34" charset="0"/>
              <a:buChar char="•"/>
            </a:pPr>
            <a:r>
              <a:rPr lang="en-US" sz="8000" dirty="0"/>
              <a:t>Implemented start/stop control with user consent</a:t>
            </a:r>
          </a:p>
          <a:p>
            <a:pPr>
              <a:buFont typeface="Arial" panose="020B0604020202020204" pitchFamily="34" charset="0"/>
              <a:buChar char="•"/>
            </a:pPr>
            <a:r>
              <a:rPr lang="en-US" sz="8000" dirty="0"/>
              <a:t>Displayed logged keystrokes in a clean UI</a:t>
            </a:r>
          </a:p>
          <a:p>
            <a:pPr>
              <a:buFont typeface="Arial" panose="020B0604020202020204" pitchFamily="34" charset="0"/>
              <a:buChar char="•"/>
            </a:pPr>
            <a:r>
              <a:rPr lang="en-US" sz="8000" dirty="0"/>
              <a:t>Prevented application crashes by handling special keys</a:t>
            </a:r>
          </a:p>
          <a:p>
            <a:pPr>
              <a:buFont typeface="Arial" panose="020B0604020202020204" pitchFamily="34" charset="0"/>
              <a:buChar char="•"/>
            </a:pPr>
            <a:r>
              <a:rPr lang="en-US" sz="8000" dirty="0"/>
              <a:t>Demonstrated real-world keylogging behavior</a:t>
            </a:r>
          </a:p>
          <a:p>
            <a:r>
              <a:rPr lang="en-US" sz="8000" dirty="0"/>
              <a:t>The project effectively showcases how keyloggers operate and how such threats can be analyzed in cybersecurity environments.</a:t>
            </a:r>
          </a:p>
          <a:p>
            <a:pPr marL="0" indent="0">
              <a:buNone/>
            </a:pP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966672"/>
            <a:ext cx="2981643" cy="830997"/>
          </a:xfrm>
        </p:spPr>
        <p:txBody>
          <a:bodyPr>
            <a:normAutofit fontScale="90000"/>
          </a:bodyPr>
          <a:lstStyle/>
          <a:p>
            <a:r>
              <a:rPr lang="en-IN" dirty="0"/>
              <a:t>DEMO LINK</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56700" y="2484886"/>
            <a:ext cx="10636536" cy="1017593"/>
          </a:xfrm>
        </p:spPr>
        <p:txBody>
          <a:bodyPr>
            <a:normAutofit/>
          </a:bodyPr>
          <a:lstStyle/>
          <a:p>
            <a:pPr marL="0" indent="0">
              <a:buNone/>
            </a:pPr>
            <a:r>
              <a:rPr lang="en-US" dirty="0" err="1"/>
              <a:t>Github</a:t>
            </a:r>
            <a:r>
              <a:rPr lang="en-US" dirty="0"/>
              <a:t> Repo : https://github.com/GauravGhandat-23/Keystroke-Logger</a:t>
            </a:r>
            <a:endParaRPr lang="en-IN" dirty="0"/>
          </a:p>
        </p:txBody>
      </p:sp>
    </p:spTree>
    <p:extLst>
      <p:ext uri="{BB962C8B-B14F-4D97-AF65-F5344CB8AC3E}">
        <p14:creationId xmlns:p14="http://schemas.microsoft.com/office/powerpoint/2010/main" val="8156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82900" y="350533"/>
            <a:ext cx="7006355" cy="2041603"/>
          </a:xfrm>
        </p:spPr>
        <p:txBody>
          <a:bodyPr>
            <a:normAutofit/>
          </a:bodyPr>
          <a:lstStyle/>
          <a:p>
            <a:r>
              <a:rPr lang="en-IN" dirty="0"/>
              <a:t>SCREENSHOTS </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4043" y="1480679"/>
            <a:ext cx="8263357" cy="4373114"/>
          </a:xfrm>
        </p:spPr>
        <p:txBody>
          <a:bodyPr>
            <a:normAutofit/>
          </a:bodyPr>
          <a:lstStyle/>
          <a:p>
            <a:r>
              <a:rPr lang="en-IN" dirty="0"/>
              <a:t>Home Page UI</a:t>
            </a:r>
          </a:p>
          <a:p>
            <a:pPr marL="0" indent="0">
              <a:buNone/>
            </a:pPr>
            <a:endParaRPr lang="en-IN" dirty="0"/>
          </a:p>
          <a:p>
            <a:pPr marL="0" indent="0">
              <a:buNone/>
            </a:pPr>
            <a:endParaRPr lang="en-IN" dirty="0"/>
          </a:p>
        </p:txBody>
      </p:sp>
      <p:pic>
        <p:nvPicPr>
          <p:cNvPr id="3" name="Picture 2" descr="A screenshot of a computer">
            <a:extLst>
              <a:ext uri="{FF2B5EF4-FFF2-40B4-BE49-F238E27FC236}">
                <a16:creationId xmlns:a16="http://schemas.microsoft.com/office/drawing/2014/main" id="{AAA69CBA-150C-C244-3FC8-7C751B3E5F65}"/>
              </a:ext>
            </a:extLst>
          </p:cNvPr>
          <p:cNvPicPr>
            <a:picLocks noChangeAspect="1"/>
          </p:cNvPicPr>
          <p:nvPr/>
        </p:nvPicPr>
        <p:blipFill>
          <a:blip r:embed="rId3"/>
          <a:stretch>
            <a:fillRect/>
          </a:stretch>
        </p:blipFill>
        <p:spPr>
          <a:xfrm>
            <a:off x="1018658" y="1967151"/>
            <a:ext cx="7219669" cy="3615478"/>
          </a:xfrm>
          <a:prstGeom prst="rect">
            <a:avLst/>
          </a:prstGeom>
        </p:spPr>
      </p:pic>
    </p:spTree>
    <p:extLst>
      <p:ext uri="{BB962C8B-B14F-4D97-AF65-F5344CB8AC3E}">
        <p14:creationId xmlns:p14="http://schemas.microsoft.com/office/powerpoint/2010/main" val="166370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82900" y="350533"/>
            <a:ext cx="7006355" cy="2041603"/>
          </a:xfrm>
        </p:spPr>
        <p:txBody>
          <a:bodyPr>
            <a:normAutofit/>
          </a:bodyPr>
          <a:lstStyle/>
          <a:p>
            <a:r>
              <a:rPr lang="en-IN" dirty="0"/>
              <a:t>SCREENSHOTS </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4043" y="1480679"/>
            <a:ext cx="8263357" cy="4373114"/>
          </a:xfrm>
        </p:spPr>
        <p:txBody>
          <a:bodyPr>
            <a:normAutofit/>
          </a:bodyPr>
          <a:lstStyle/>
          <a:p>
            <a:r>
              <a:rPr lang="en-IN" dirty="0"/>
              <a:t>Start Logging Button</a:t>
            </a:r>
          </a:p>
          <a:p>
            <a:pPr marL="0" indent="0">
              <a:buNone/>
            </a:pPr>
            <a:endParaRPr lang="en-IN" dirty="0"/>
          </a:p>
          <a:p>
            <a:pPr marL="0" indent="0">
              <a:buNone/>
            </a:pPr>
            <a:endParaRPr lang="en-IN" dirty="0"/>
          </a:p>
          <a:p>
            <a:pPr marL="0" indent="0">
              <a:buNone/>
            </a:pPr>
            <a:endParaRPr lang="en-IN" dirty="0"/>
          </a:p>
        </p:txBody>
      </p:sp>
      <p:pic>
        <p:nvPicPr>
          <p:cNvPr id="6" name="Picture 5" descr="A screenshot of a computer&#10;&#10;AI-generated content may be incorrect.">
            <a:extLst>
              <a:ext uri="{FF2B5EF4-FFF2-40B4-BE49-F238E27FC236}">
                <a16:creationId xmlns:a16="http://schemas.microsoft.com/office/drawing/2014/main" id="{E8566596-303A-3618-A15B-070F5348348C}"/>
              </a:ext>
            </a:extLst>
          </p:cNvPr>
          <p:cNvPicPr>
            <a:picLocks noChangeAspect="1"/>
          </p:cNvPicPr>
          <p:nvPr/>
        </p:nvPicPr>
        <p:blipFill>
          <a:blip r:embed="rId3"/>
          <a:stretch>
            <a:fillRect/>
          </a:stretch>
        </p:blipFill>
        <p:spPr>
          <a:xfrm>
            <a:off x="675957" y="1965557"/>
            <a:ext cx="7807957" cy="3906013"/>
          </a:xfrm>
          <a:prstGeom prst="rect">
            <a:avLst/>
          </a:prstGeom>
        </p:spPr>
      </p:pic>
    </p:spTree>
    <p:extLst>
      <p:ext uri="{BB962C8B-B14F-4D97-AF65-F5344CB8AC3E}">
        <p14:creationId xmlns:p14="http://schemas.microsoft.com/office/powerpoint/2010/main" val="259951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82900" y="350533"/>
            <a:ext cx="7006355" cy="2041603"/>
          </a:xfrm>
        </p:spPr>
        <p:txBody>
          <a:bodyPr>
            <a:normAutofit/>
          </a:bodyPr>
          <a:lstStyle/>
          <a:p>
            <a:r>
              <a:rPr lang="en-IN" dirty="0"/>
              <a:t>SCREENSHOTS </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4043" y="1275371"/>
            <a:ext cx="8263357" cy="4578422"/>
          </a:xfrm>
        </p:spPr>
        <p:txBody>
          <a:bodyPr>
            <a:normAutofit/>
          </a:bodyPr>
          <a:lstStyle/>
          <a:p>
            <a:r>
              <a:rPr lang="en-IN" dirty="0"/>
              <a:t>Captured Keystrokes Output</a:t>
            </a:r>
          </a:p>
          <a:p>
            <a:pPr marL="0" indent="0">
              <a:buNone/>
            </a:pPr>
            <a:endParaRPr lang="en-IN" dirty="0"/>
          </a:p>
          <a:p>
            <a:pPr marL="0" indent="0">
              <a:buNone/>
            </a:pPr>
            <a:endParaRPr lang="en-IN" dirty="0"/>
          </a:p>
          <a:p>
            <a:pPr marL="0" indent="0">
              <a:buNone/>
            </a:pPr>
            <a:endParaRPr lang="en-IN" dirty="0"/>
          </a:p>
        </p:txBody>
      </p:sp>
      <p:pic>
        <p:nvPicPr>
          <p:cNvPr id="3" name="Picture 2" descr="A screenshot of a computer">
            <a:extLst>
              <a:ext uri="{FF2B5EF4-FFF2-40B4-BE49-F238E27FC236}">
                <a16:creationId xmlns:a16="http://schemas.microsoft.com/office/drawing/2014/main" id="{302D6E8A-BF20-8203-846C-4638CB213FA5}"/>
              </a:ext>
            </a:extLst>
          </p:cNvPr>
          <p:cNvPicPr>
            <a:picLocks noChangeAspect="1"/>
          </p:cNvPicPr>
          <p:nvPr/>
        </p:nvPicPr>
        <p:blipFill>
          <a:blip r:embed="rId3"/>
          <a:stretch>
            <a:fillRect/>
          </a:stretch>
        </p:blipFill>
        <p:spPr>
          <a:xfrm>
            <a:off x="460337" y="1687063"/>
            <a:ext cx="6863028" cy="4681079"/>
          </a:xfrm>
          <a:prstGeom prst="rect">
            <a:avLst/>
          </a:prstGeom>
        </p:spPr>
      </p:pic>
    </p:spTree>
    <p:extLst>
      <p:ext uri="{BB962C8B-B14F-4D97-AF65-F5344CB8AC3E}">
        <p14:creationId xmlns:p14="http://schemas.microsoft.com/office/powerpoint/2010/main" val="205950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82900" y="350533"/>
            <a:ext cx="7006355" cy="2041603"/>
          </a:xfrm>
        </p:spPr>
        <p:txBody>
          <a:bodyPr>
            <a:normAutofit/>
          </a:bodyPr>
          <a:lstStyle/>
          <a:p>
            <a:r>
              <a:rPr lang="en-IN" dirty="0"/>
              <a:t>SCREENSHOTS </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4043" y="1275371"/>
            <a:ext cx="8263357" cy="4578422"/>
          </a:xfrm>
        </p:spPr>
        <p:txBody>
          <a:bodyPr>
            <a:normAutofit/>
          </a:bodyPr>
          <a:lstStyle/>
          <a:p>
            <a:r>
              <a:rPr lang="en-IN" dirty="0"/>
              <a:t>Logger Code (logger.py)</a:t>
            </a:r>
          </a:p>
          <a:p>
            <a:pPr marL="0" indent="0">
              <a:buNone/>
            </a:pPr>
            <a:endParaRPr lang="en-IN" dirty="0"/>
          </a:p>
          <a:p>
            <a:endParaRPr lang="en-IN" dirty="0"/>
          </a:p>
          <a:p>
            <a:pPr marL="0" indent="0">
              <a:buNone/>
            </a:pPr>
            <a:endParaRPr lang="en-IN" dirty="0"/>
          </a:p>
          <a:p>
            <a:pPr marL="0" indent="0">
              <a:buNone/>
            </a:pPr>
            <a:endParaRPr lang="en-IN" dirty="0"/>
          </a:p>
        </p:txBody>
      </p:sp>
      <p:pic>
        <p:nvPicPr>
          <p:cNvPr id="11" name="Picture 10">
            <a:extLst>
              <a:ext uri="{FF2B5EF4-FFF2-40B4-BE49-F238E27FC236}">
                <a16:creationId xmlns:a16="http://schemas.microsoft.com/office/drawing/2014/main" id="{B6B73BA2-69A1-8DB5-AFD5-4AE9974A4245}"/>
              </a:ext>
            </a:extLst>
          </p:cNvPr>
          <p:cNvPicPr>
            <a:picLocks noChangeAspect="1"/>
          </p:cNvPicPr>
          <p:nvPr/>
        </p:nvPicPr>
        <p:blipFill>
          <a:blip r:embed="rId3"/>
          <a:stretch>
            <a:fillRect/>
          </a:stretch>
        </p:blipFill>
        <p:spPr>
          <a:xfrm>
            <a:off x="524043" y="1776749"/>
            <a:ext cx="10262507" cy="4871883"/>
          </a:xfrm>
          <a:prstGeom prst="rect">
            <a:avLst/>
          </a:prstGeom>
        </p:spPr>
      </p:pic>
    </p:spTree>
    <p:extLst>
      <p:ext uri="{BB962C8B-B14F-4D97-AF65-F5344CB8AC3E}">
        <p14:creationId xmlns:p14="http://schemas.microsoft.com/office/powerpoint/2010/main" val="2201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82900" y="350533"/>
            <a:ext cx="7006355" cy="2041603"/>
          </a:xfrm>
        </p:spPr>
        <p:txBody>
          <a:bodyPr>
            <a:normAutofit/>
          </a:bodyPr>
          <a:lstStyle/>
          <a:p>
            <a:r>
              <a:rPr lang="en-IN" dirty="0"/>
              <a:t>SCREENSHOTS </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4043" y="1275371"/>
            <a:ext cx="8263357" cy="4578422"/>
          </a:xfrm>
        </p:spPr>
        <p:txBody>
          <a:bodyPr>
            <a:normAutofit/>
          </a:bodyPr>
          <a:lstStyle/>
          <a:p>
            <a:r>
              <a:rPr lang="en-IN" dirty="0" err="1"/>
              <a:t>Streamlit</a:t>
            </a:r>
            <a:r>
              <a:rPr lang="en-IN" dirty="0"/>
              <a:t> App Code (app.py)</a:t>
            </a:r>
          </a:p>
          <a:p>
            <a:pPr marL="0" indent="0">
              <a:buNone/>
            </a:pPr>
            <a:endParaRPr lang="en-IN" dirty="0"/>
          </a:p>
          <a:p>
            <a:pPr marL="0" indent="0">
              <a:buNone/>
            </a:pPr>
            <a:endParaRPr lang="en-IN" dirty="0"/>
          </a:p>
          <a:p>
            <a:endParaRPr lang="en-IN" dirty="0"/>
          </a:p>
          <a:p>
            <a:pPr marL="0" indent="0">
              <a:buNone/>
            </a:pPr>
            <a:endParaRPr lang="en-IN" dirty="0"/>
          </a:p>
          <a:p>
            <a:pPr marL="0" indent="0">
              <a:buNone/>
            </a:pPr>
            <a:endParaRPr lang="en-IN" dirty="0"/>
          </a:p>
        </p:txBody>
      </p:sp>
      <p:pic>
        <p:nvPicPr>
          <p:cNvPr id="6" name="Picture 5">
            <a:extLst>
              <a:ext uri="{FF2B5EF4-FFF2-40B4-BE49-F238E27FC236}">
                <a16:creationId xmlns:a16="http://schemas.microsoft.com/office/drawing/2014/main" id="{43016887-3466-0AB6-463F-3364A8074E15}"/>
              </a:ext>
            </a:extLst>
          </p:cNvPr>
          <p:cNvPicPr>
            <a:picLocks noChangeAspect="1"/>
          </p:cNvPicPr>
          <p:nvPr/>
        </p:nvPicPr>
        <p:blipFill>
          <a:blip r:embed="rId3"/>
          <a:stretch>
            <a:fillRect/>
          </a:stretch>
        </p:blipFill>
        <p:spPr>
          <a:xfrm>
            <a:off x="320981" y="1669350"/>
            <a:ext cx="10970225" cy="4935557"/>
          </a:xfrm>
          <a:prstGeom prst="rect">
            <a:avLst/>
          </a:prstGeom>
        </p:spPr>
      </p:pic>
    </p:spTree>
    <p:extLst>
      <p:ext uri="{BB962C8B-B14F-4D97-AF65-F5344CB8AC3E}">
        <p14:creationId xmlns:p14="http://schemas.microsoft.com/office/powerpoint/2010/main" val="12769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085468" y="1379237"/>
            <a:ext cx="8526756"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469950" y="2216075"/>
            <a:ext cx="4078930" cy="1017641"/>
          </a:xfrm>
        </p:spPr>
        <p:txBody>
          <a:bodyPr>
            <a:noAutofit/>
          </a:bodyPr>
          <a:lstStyle/>
          <a:p>
            <a:r>
              <a:rPr lang="en-US" dirty="0"/>
              <a:t>Thank you for reviewing this project.</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569</TotalTime>
  <Words>366</Words>
  <Application>Microsoft Office PowerPoint</Application>
  <PresentationFormat>Widescreen</PresentationFormat>
  <Paragraphs>92</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Unicode MS</vt:lpstr>
      <vt:lpstr>Calibri</vt:lpstr>
      <vt:lpstr>Trebuchet MS</vt:lpstr>
      <vt:lpstr>Wingdings</vt:lpstr>
      <vt:lpstr>Wingdings 3</vt:lpstr>
      <vt:lpstr>Facet</vt:lpstr>
      <vt:lpstr>Project Title -Keystroke Logger Using Python and Streamlit</vt:lpstr>
      <vt:lpstr>PROBLEM  STATEMENT</vt:lpstr>
      <vt:lpstr>Project Description  </vt:lpstr>
      <vt:lpstr>WHO ARE THE END USERS?</vt:lpstr>
      <vt:lpstr>Technology Used</vt:lpstr>
      <vt:lpstr>RESULTS </vt:lpstr>
      <vt:lpstr>DEMO LINK </vt:lpstr>
      <vt:lpstr>SCREENSHOTS </vt:lpstr>
      <vt:lpstr>SCREENSHOTS </vt:lpstr>
      <vt:lpstr>SCREENSHOTS </vt:lpstr>
      <vt:lpstr>SCREENSHOTS </vt:lpstr>
      <vt:lpstr>SCREENSHOTS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asus</cp:lastModifiedBy>
  <cp:revision>76</cp:revision>
  <dcterms:created xsi:type="dcterms:W3CDTF">2021-07-11T13:13:15Z</dcterms:created>
  <dcterms:modified xsi:type="dcterms:W3CDTF">2025-12-31T15:11:15Z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